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BD5E28-1E42-4B02-9F1A-1992E55C3366}" v="13" dt="2026-07-02T16:46:50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7" d="100"/>
          <a:sy n="77" d="100"/>
        </p:scale>
        <p:origin x="82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shaya Itha" userId="894e7e86a452efd9" providerId="LiveId" clId="{3422500A-81B6-46D2-9BB1-9EC9CDAE0FE7}"/>
    <pc:docChg chg="undo custSel addSld delSld modSld sldOrd">
      <pc:chgData name="Akshaya Itha" userId="894e7e86a452efd9" providerId="LiveId" clId="{3422500A-81B6-46D2-9BB1-9EC9CDAE0FE7}" dt="2026-07-02T16:47:17.696" v="105" actId="20577"/>
      <pc:docMkLst>
        <pc:docMk/>
      </pc:docMkLst>
      <pc:sldChg chg="modSp mod">
        <pc:chgData name="Akshaya Itha" userId="894e7e86a452efd9" providerId="LiveId" clId="{3422500A-81B6-46D2-9BB1-9EC9CDAE0FE7}" dt="2026-07-02T16:46:50.707" v="92" actId="27636"/>
        <pc:sldMkLst>
          <pc:docMk/>
          <pc:sldMk cId="753300921" sldId="257"/>
        </pc:sldMkLst>
        <pc:spChg chg="mod">
          <ac:chgData name="Akshaya Itha" userId="894e7e86a452efd9" providerId="LiveId" clId="{3422500A-81B6-46D2-9BB1-9EC9CDAE0FE7}" dt="2026-07-02T16:46:50.707" v="92" actId="27636"/>
          <ac:spMkLst>
            <pc:docMk/>
            <pc:sldMk cId="753300921" sldId="257"/>
            <ac:spMk id="2" creationId="{CDB1CD0E-647D-6D7C-5875-F36C94B370BC}"/>
          </ac:spMkLst>
        </pc:spChg>
      </pc:sldChg>
      <pc:sldChg chg="modSp mod">
        <pc:chgData name="Akshaya Itha" userId="894e7e86a452efd9" providerId="LiveId" clId="{3422500A-81B6-46D2-9BB1-9EC9CDAE0FE7}" dt="2026-07-02T16:46:30.254" v="88" actId="27636"/>
        <pc:sldMkLst>
          <pc:docMk/>
          <pc:sldMk cId="4034491406" sldId="259"/>
        </pc:sldMkLst>
        <pc:spChg chg="mod">
          <ac:chgData name="Akshaya Itha" userId="894e7e86a452efd9" providerId="LiveId" clId="{3422500A-81B6-46D2-9BB1-9EC9CDAE0FE7}" dt="2026-07-02T16:46:30.254" v="88" actId="27636"/>
          <ac:spMkLst>
            <pc:docMk/>
            <pc:sldMk cId="4034491406" sldId="259"/>
            <ac:spMk id="3" creationId="{F7C9DB70-42B3-469F-BA29-364E2D5D923C}"/>
          </ac:spMkLst>
        </pc:spChg>
      </pc:sldChg>
      <pc:sldChg chg="modSp">
        <pc:chgData name="Akshaya Itha" userId="894e7e86a452efd9" providerId="LiveId" clId="{3422500A-81B6-46D2-9BB1-9EC9CDAE0FE7}" dt="2026-07-02T16:46:50.660" v="91"/>
        <pc:sldMkLst>
          <pc:docMk/>
          <pc:sldMk cId="3015647178" sldId="260"/>
        </pc:sldMkLst>
        <pc:spChg chg="mod">
          <ac:chgData name="Akshaya Itha" userId="894e7e86a452efd9" providerId="LiveId" clId="{3422500A-81B6-46D2-9BB1-9EC9CDAE0FE7}" dt="2026-07-02T16:46:50.660" v="91"/>
          <ac:spMkLst>
            <pc:docMk/>
            <pc:sldMk cId="3015647178" sldId="260"/>
            <ac:spMk id="2" creationId="{919A1F1C-A48E-FF65-76C0-92198ED48448}"/>
          </ac:spMkLst>
        </pc:spChg>
        <pc:spChg chg="mod">
          <ac:chgData name="Akshaya Itha" userId="894e7e86a452efd9" providerId="LiveId" clId="{3422500A-81B6-46D2-9BB1-9EC9CDAE0FE7}" dt="2026-07-02T16:46:50.660" v="91"/>
          <ac:spMkLst>
            <pc:docMk/>
            <pc:sldMk cId="3015647178" sldId="260"/>
            <ac:spMk id="3" creationId="{68636823-7A30-08E2-9201-2B6C9DA9AB2F}"/>
          </ac:spMkLst>
        </pc:spChg>
      </pc:sldChg>
      <pc:sldChg chg="modSp mod">
        <pc:chgData name="Akshaya Itha" userId="894e7e86a452efd9" providerId="LiveId" clId="{3422500A-81B6-46D2-9BB1-9EC9CDAE0FE7}" dt="2026-07-02T16:46:50.729" v="93" actId="27636"/>
        <pc:sldMkLst>
          <pc:docMk/>
          <pc:sldMk cId="1175842304" sldId="261"/>
        </pc:sldMkLst>
        <pc:spChg chg="mod">
          <ac:chgData name="Akshaya Itha" userId="894e7e86a452efd9" providerId="LiveId" clId="{3422500A-81B6-46D2-9BB1-9EC9CDAE0FE7}" dt="2026-07-02T16:46:50.660" v="91"/>
          <ac:spMkLst>
            <pc:docMk/>
            <pc:sldMk cId="1175842304" sldId="261"/>
            <ac:spMk id="2" creationId="{F438714C-8E91-E098-9075-AE2EF9CD917E}"/>
          </ac:spMkLst>
        </pc:spChg>
        <pc:spChg chg="mod">
          <ac:chgData name="Akshaya Itha" userId="894e7e86a452efd9" providerId="LiveId" clId="{3422500A-81B6-46D2-9BB1-9EC9CDAE0FE7}" dt="2026-07-02T16:46:50.729" v="93" actId="27636"/>
          <ac:spMkLst>
            <pc:docMk/>
            <pc:sldMk cId="1175842304" sldId="261"/>
            <ac:spMk id="3" creationId="{E18C87BA-F7EA-949B-D5E0-AC7A44C21214}"/>
          </ac:spMkLst>
        </pc:spChg>
      </pc:sldChg>
      <pc:sldChg chg="modSp new mod ord">
        <pc:chgData name="Akshaya Itha" userId="894e7e86a452efd9" providerId="LiveId" clId="{3422500A-81B6-46D2-9BB1-9EC9CDAE0FE7}" dt="2026-07-02T16:46:50.660" v="91"/>
        <pc:sldMkLst>
          <pc:docMk/>
          <pc:sldMk cId="1360730416" sldId="262"/>
        </pc:sldMkLst>
        <pc:spChg chg="mod">
          <ac:chgData name="Akshaya Itha" userId="894e7e86a452efd9" providerId="LiveId" clId="{3422500A-81B6-46D2-9BB1-9EC9CDAE0FE7}" dt="2026-07-02T16:36:38.043" v="41" actId="14100"/>
          <ac:spMkLst>
            <pc:docMk/>
            <pc:sldMk cId="1360730416" sldId="262"/>
            <ac:spMk id="2" creationId="{496A6921-1E84-981F-05EA-A0A9AB3A9E4C}"/>
          </ac:spMkLst>
        </pc:spChg>
        <pc:spChg chg="mod">
          <ac:chgData name="Akshaya Itha" userId="894e7e86a452efd9" providerId="LiveId" clId="{3422500A-81B6-46D2-9BB1-9EC9CDAE0FE7}" dt="2026-07-02T16:46:50.660" v="91"/>
          <ac:spMkLst>
            <pc:docMk/>
            <pc:sldMk cId="1360730416" sldId="262"/>
            <ac:spMk id="3" creationId="{C034347C-A34E-AF59-7F9E-81E0EE5D0D59}"/>
          </ac:spMkLst>
        </pc:spChg>
      </pc:sldChg>
      <pc:sldChg chg="modSp new mod">
        <pc:chgData name="Akshaya Itha" userId="894e7e86a452efd9" providerId="LiveId" clId="{3422500A-81B6-46D2-9BB1-9EC9CDAE0FE7}" dt="2026-07-02T16:46:50.660" v="91"/>
        <pc:sldMkLst>
          <pc:docMk/>
          <pc:sldMk cId="3799770366" sldId="263"/>
        </pc:sldMkLst>
        <pc:spChg chg="mod">
          <ac:chgData name="Akshaya Itha" userId="894e7e86a452efd9" providerId="LiveId" clId="{3422500A-81B6-46D2-9BB1-9EC9CDAE0FE7}" dt="2026-07-02T16:46:50.660" v="91"/>
          <ac:spMkLst>
            <pc:docMk/>
            <pc:sldMk cId="3799770366" sldId="263"/>
            <ac:spMk id="2" creationId="{42A9AB25-AE49-673A-5DC1-EAD31294DC29}"/>
          </ac:spMkLst>
        </pc:spChg>
        <pc:spChg chg="mod">
          <ac:chgData name="Akshaya Itha" userId="894e7e86a452efd9" providerId="LiveId" clId="{3422500A-81B6-46D2-9BB1-9EC9CDAE0FE7}" dt="2026-07-02T16:46:50.660" v="91"/>
          <ac:spMkLst>
            <pc:docMk/>
            <pc:sldMk cId="3799770366" sldId="263"/>
            <ac:spMk id="3" creationId="{D95A56D7-D3A4-2FA1-8D55-CD4BFE0A5446}"/>
          </ac:spMkLst>
        </pc:spChg>
      </pc:sldChg>
      <pc:sldChg chg="modSp new mod">
        <pc:chgData name="Akshaya Itha" userId="894e7e86a452efd9" providerId="LiveId" clId="{3422500A-81B6-46D2-9BB1-9EC9CDAE0FE7}" dt="2026-07-02T16:46:50.739" v="94" actId="27636"/>
        <pc:sldMkLst>
          <pc:docMk/>
          <pc:sldMk cId="869986254" sldId="264"/>
        </pc:sldMkLst>
        <pc:spChg chg="mod">
          <ac:chgData name="Akshaya Itha" userId="894e7e86a452efd9" providerId="LiveId" clId="{3422500A-81B6-46D2-9BB1-9EC9CDAE0FE7}" dt="2026-07-02T16:46:50.660" v="91"/>
          <ac:spMkLst>
            <pc:docMk/>
            <pc:sldMk cId="869986254" sldId="264"/>
            <ac:spMk id="2" creationId="{B1501C65-FBD0-7558-9797-C24B8F96AF68}"/>
          </ac:spMkLst>
        </pc:spChg>
        <pc:spChg chg="mod">
          <ac:chgData name="Akshaya Itha" userId="894e7e86a452efd9" providerId="LiveId" clId="{3422500A-81B6-46D2-9BB1-9EC9CDAE0FE7}" dt="2026-07-02T16:46:50.739" v="94" actId="27636"/>
          <ac:spMkLst>
            <pc:docMk/>
            <pc:sldMk cId="869986254" sldId="264"/>
            <ac:spMk id="3" creationId="{06E6A676-B473-FDF3-8FD1-F249DDAD9397}"/>
          </ac:spMkLst>
        </pc:spChg>
      </pc:sldChg>
      <pc:sldChg chg="addSp modSp new del mod">
        <pc:chgData name="Akshaya Itha" userId="894e7e86a452efd9" providerId="LiveId" clId="{3422500A-81B6-46D2-9BB1-9EC9CDAE0FE7}" dt="2026-07-02T16:47:02.547" v="95" actId="2696"/>
        <pc:sldMkLst>
          <pc:docMk/>
          <pc:sldMk cId="501789676" sldId="265"/>
        </pc:sldMkLst>
        <pc:spChg chg="mod">
          <ac:chgData name="Akshaya Itha" userId="894e7e86a452efd9" providerId="LiveId" clId="{3422500A-81B6-46D2-9BB1-9EC9CDAE0FE7}" dt="2026-07-02T16:46:50.660" v="91"/>
          <ac:spMkLst>
            <pc:docMk/>
            <pc:sldMk cId="501789676" sldId="265"/>
            <ac:spMk id="2" creationId="{84E59C1F-2E57-2B85-4704-AB290997A8AE}"/>
          </ac:spMkLst>
        </pc:spChg>
        <pc:spChg chg="mod">
          <ac:chgData name="Akshaya Itha" userId="894e7e86a452efd9" providerId="LiveId" clId="{3422500A-81B6-46D2-9BB1-9EC9CDAE0FE7}" dt="2026-07-02T16:46:50.660" v="91"/>
          <ac:spMkLst>
            <pc:docMk/>
            <pc:sldMk cId="501789676" sldId="265"/>
            <ac:spMk id="3" creationId="{57A95A31-5A61-0506-C64C-1E5924BB9F62}"/>
          </ac:spMkLst>
        </pc:spChg>
        <pc:spChg chg="add mod">
          <ac:chgData name="Akshaya Itha" userId="894e7e86a452efd9" providerId="LiveId" clId="{3422500A-81B6-46D2-9BB1-9EC9CDAE0FE7}" dt="2026-07-02T16:46:18.557" v="85" actId="1076"/>
          <ac:spMkLst>
            <pc:docMk/>
            <pc:sldMk cId="501789676" sldId="265"/>
            <ac:spMk id="5" creationId="{0804C2C2-8F34-ECC3-C9A6-681F862E8304}"/>
          </ac:spMkLst>
        </pc:spChg>
      </pc:sldChg>
      <pc:sldChg chg="modSp new mod">
        <pc:chgData name="Akshaya Itha" userId="894e7e86a452efd9" providerId="LiveId" clId="{3422500A-81B6-46D2-9BB1-9EC9CDAE0FE7}" dt="2026-07-02T16:47:17.696" v="105" actId="20577"/>
        <pc:sldMkLst>
          <pc:docMk/>
          <pc:sldMk cId="2924042500" sldId="265"/>
        </pc:sldMkLst>
        <pc:spChg chg="mod">
          <ac:chgData name="Akshaya Itha" userId="894e7e86a452efd9" providerId="LiveId" clId="{3422500A-81B6-46D2-9BB1-9EC9CDAE0FE7}" dt="2026-07-02T16:47:17.696" v="105" actId="20577"/>
          <ac:spMkLst>
            <pc:docMk/>
            <pc:sldMk cId="2924042500" sldId="265"/>
            <ac:spMk id="2" creationId="{738338C7-68F8-58FC-4210-90771BA7C87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069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1901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033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1289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3935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2149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80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24238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0709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708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3758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756C640-570B-4FAE-9AEF-E25D022F729E}" type="datetimeFigureOut">
              <a:rPr lang="en-IN" smtClean="0"/>
              <a:t>02-07-2026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B807C19-8DA8-42E3-A4B1-5308921F37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7017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5" r:id="rId1"/>
    <p:sldLayoutId id="2147483876" r:id="rId2"/>
    <p:sldLayoutId id="2147483877" r:id="rId3"/>
    <p:sldLayoutId id="2147483878" r:id="rId4"/>
    <p:sldLayoutId id="2147483879" r:id="rId5"/>
    <p:sldLayoutId id="2147483880" r:id="rId6"/>
    <p:sldLayoutId id="2147483881" r:id="rId7"/>
    <p:sldLayoutId id="2147483882" r:id="rId8"/>
    <p:sldLayoutId id="2147483883" r:id="rId9"/>
    <p:sldLayoutId id="2147483884" r:id="rId10"/>
    <p:sldLayoutId id="21474838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A6921-1E84-981F-05EA-A0A9AB3A9E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1496763"/>
          </a:xfrm>
        </p:spPr>
        <p:txBody>
          <a:bodyPr/>
          <a:lstStyle/>
          <a:p>
            <a:r>
              <a:rPr lang="en-IN" sz="2400" b="1" dirty="0"/>
              <a:t>Data Analytics Internship Portfolio – </a:t>
            </a:r>
            <a:r>
              <a:rPr lang="en-IN" sz="2400" b="1" dirty="0" err="1"/>
              <a:t>ApexPlanet</a:t>
            </a:r>
            <a:r>
              <a:rPr lang="en-IN" sz="2400" b="1" dirty="0"/>
              <a:t> Software Pvt Ltd</a:t>
            </a:r>
            <a:br>
              <a:rPr lang="en-IN" sz="2400" b="1" dirty="0"/>
            </a:br>
            <a:endParaRPr lang="en-IN" sz="2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34347C-A34E-AF59-7F9E-81E0EE5D0D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sz="2400" b="1" dirty="0"/>
              <a:t>Itha Akshaya</a:t>
            </a:r>
          </a:p>
        </p:txBody>
      </p:sp>
    </p:spTree>
    <p:extLst>
      <p:ext uri="{BB962C8B-B14F-4D97-AF65-F5344CB8AC3E}">
        <p14:creationId xmlns:p14="http://schemas.microsoft.com/office/powerpoint/2010/main" val="1360730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C76DE-FD1C-3E57-73ED-875BDFB4CF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1708" y="2383435"/>
            <a:ext cx="9068586" cy="1045565"/>
          </a:xfrm>
        </p:spPr>
        <p:txBody>
          <a:bodyPr>
            <a:normAutofit fontScale="90000"/>
          </a:bodyPr>
          <a:lstStyle/>
          <a:p>
            <a:r>
              <a:rPr lang="en-IN" sz="2800" b="1" i="1" dirty="0"/>
              <a:t>Data Storytelling &amp; Statistical Validation</a:t>
            </a:r>
            <a:r>
              <a:rPr lang="en-IN" dirty="0"/>
              <a:t>.</a:t>
            </a:r>
            <a:br>
              <a:rPr lang="en-IN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FF81F5-B0FE-44DD-5DCD-6F9D39B7A3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6992" y="3702569"/>
            <a:ext cx="9070848" cy="1469037"/>
          </a:xfrm>
        </p:spPr>
        <p:txBody>
          <a:bodyPr/>
          <a:lstStyle/>
          <a:p>
            <a:r>
              <a:rPr lang="en-IN" sz="2000" b="1" i="1" dirty="0"/>
              <a:t>Analyzing customer transactions to identify sales patterns and validate insights using statistical tests</a:t>
            </a:r>
            <a:r>
              <a:rPr lang="en-IN" sz="2000" b="1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1074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1CD0E-647D-6D7C-5875-F36C94B37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92308"/>
            <a:ext cx="10058400" cy="1311640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Dataset Overview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616C4-A51C-8D9F-12AB-C113B72B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019331"/>
            <a:ext cx="10058400" cy="5546361"/>
          </a:xfrm>
        </p:spPr>
        <p:txBody>
          <a:bodyPr/>
          <a:lstStyle/>
          <a:p>
            <a:r>
              <a:rPr lang="en-IN" b="1" dirty="0"/>
              <a:t>19 transactions recorded in January 2024</a:t>
            </a:r>
          </a:p>
          <a:p>
            <a:r>
              <a:rPr lang="en-IN" b="1" dirty="0"/>
              <a:t>Customer details include: </a:t>
            </a:r>
            <a:r>
              <a:rPr lang="en-IN" b="1" dirty="0" err="1"/>
              <a:t>TransactionID</a:t>
            </a:r>
            <a:r>
              <a:rPr lang="en-IN" b="1" dirty="0"/>
              <a:t>, </a:t>
            </a:r>
            <a:r>
              <a:rPr lang="en-IN" b="1" dirty="0" err="1"/>
              <a:t>CustomerID</a:t>
            </a:r>
            <a:r>
              <a:rPr lang="en-IN" b="1" dirty="0"/>
              <a:t>, Name, DOB, Gender, Product, Quantity, Price, </a:t>
            </a:r>
            <a:r>
              <a:rPr lang="en-IN" b="1" dirty="0" err="1"/>
              <a:t>PurchaseDate</a:t>
            </a:r>
            <a:r>
              <a:rPr lang="en-IN" b="1" dirty="0"/>
              <a:t>, Age</a:t>
            </a:r>
          </a:p>
          <a:p>
            <a:r>
              <a:rPr lang="en-IN" b="1" dirty="0"/>
              <a:t>Age range: 13 to 64 years</a:t>
            </a:r>
          </a:p>
          <a:p>
            <a:r>
              <a:rPr lang="en-IN" b="1" dirty="0"/>
              <a:t>Products purchased: Laptop, Phone, Tablet, Monitor, Mouse, Keyboard, Earphones</a:t>
            </a:r>
          </a:p>
          <a:p>
            <a:r>
              <a:rPr lang="en-IN" b="1" dirty="0"/>
              <a:t>Balanced gender distribution across customers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9A9579-96DB-7539-3D1C-F93936E3D3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75" y="3226980"/>
            <a:ext cx="11527435" cy="351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00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46BF0-6942-26FF-CAB6-E4D7478D0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59764"/>
            <a:ext cx="10058400" cy="884420"/>
          </a:xfrm>
        </p:spPr>
        <p:txBody>
          <a:bodyPr/>
          <a:lstStyle/>
          <a:p>
            <a:pPr algn="ctr"/>
            <a:r>
              <a:rPr lang="en-IN" dirty="0"/>
              <a:t>Key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F9C81-8033-045F-B7CA-A1A667CA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753" y="1019331"/>
            <a:ext cx="11452485" cy="5478905"/>
          </a:xfrm>
        </p:spPr>
        <p:txBody>
          <a:bodyPr/>
          <a:lstStyle/>
          <a:p>
            <a:r>
              <a:rPr lang="en-IN" b="1" dirty="0"/>
              <a:t>Laptops generate the highest revenue (₹55,000–₹110,000 per purchase)</a:t>
            </a:r>
          </a:p>
          <a:p>
            <a:r>
              <a:rPr lang="en-IN" b="1" dirty="0"/>
              <a:t>Younger customers (20–30 years) are frequent buyers</a:t>
            </a:r>
          </a:p>
          <a:p>
            <a:r>
              <a:rPr lang="en-IN" b="1" dirty="0"/>
              <a:t>Accessories (Mouse, Earphones) are low-value but repeat purchases</a:t>
            </a:r>
          </a:p>
          <a:p>
            <a:r>
              <a:rPr lang="en-IN" b="1" dirty="0"/>
              <a:t>Some customers appear multiple times, showing loyalty patterns</a:t>
            </a:r>
          </a:p>
          <a:p>
            <a:endParaRPr lang="en-IN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19334E-2D5D-41DE-BD4A-2614A8AE8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925" y="553862"/>
            <a:ext cx="4082322" cy="269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5F7552-E2EB-84ED-9129-D9CC3F0F5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81" y="2833607"/>
            <a:ext cx="4348136" cy="33423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E0A553-9AD2-5494-FE4D-F42E8183A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354" y="3604361"/>
            <a:ext cx="4781862" cy="268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4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CF7CE-C20C-015F-3DA9-FE1564ACC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9607"/>
            <a:ext cx="10058400" cy="749508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Hypotheses Tested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9DB70-42B3-469F-BA29-364E2D5D9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685" y="959369"/>
            <a:ext cx="11317574" cy="5546361"/>
          </a:xfrm>
        </p:spPr>
        <p:txBody>
          <a:bodyPr>
            <a:normAutofit fontScale="92500" lnSpcReduction="10000"/>
          </a:bodyPr>
          <a:lstStyle/>
          <a:p>
            <a:r>
              <a:rPr lang="en-IN" sz="2000" b="1" dirty="0"/>
              <a:t>Hypothesis 1: Laptop vs Phone spending differs significantly</a:t>
            </a:r>
          </a:p>
          <a:p>
            <a:r>
              <a:rPr lang="en-IN" sz="2000" b="1" dirty="0"/>
              <a:t>Hypothesis 2: Younger (&lt;30) vs Older (≥30) customers spend differently</a:t>
            </a:r>
          </a:p>
          <a:p>
            <a:r>
              <a:rPr lang="en-IN" sz="2000" b="1" dirty="0"/>
              <a:t>Hypothesis 3: Male vs Female purchase frequency differs</a:t>
            </a:r>
          </a:p>
          <a:p>
            <a:r>
              <a:rPr lang="en-IN" dirty="0">
                <a:solidFill>
                  <a:srgbClr val="002060"/>
                </a:solidFill>
              </a:rPr>
              <a:t>Hypothesis 1: Laptop vs Phone Spending</a:t>
            </a:r>
          </a:p>
          <a:p>
            <a:r>
              <a:rPr lang="en-IN" dirty="0">
                <a:solidFill>
                  <a:srgbClr val="002060"/>
                </a:solidFill>
              </a:rPr>
              <a:t> T-statistic: nan</a:t>
            </a:r>
          </a:p>
          <a:p>
            <a:r>
              <a:rPr lang="en-IN" dirty="0">
                <a:solidFill>
                  <a:srgbClr val="002060"/>
                </a:solidFill>
              </a:rPr>
              <a:t> P-value: nan </a:t>
            </a:r>
          </a:p>
          <a:p>
            <a:r>
              <a:rPr lang="en-IN" dirty="0">
                <a:solidFill>
                  <a:srgbClr val="002060"/>
                </a:solidFill>
              </a:rPr>
              <a:t>No significant difference: Laptop and Phone spending are similar. </a:t>
            </a:r>
          </a:p>
          <a:p>
            <a:r>
              <a:rPr lang="en-IN" dirty="0">
                <a:solidFill>
                  <a:srgbClr val="002060"/>
                </a:solidFill>
              </a:rPr>
              <a:t>Hypothesis 2: Younger vs Older Customers Spending </a:t>
            </a:r>
          </a:p>
          <a:p>
            <a:r>
              <a:rPr lang="en-IN" dirty="0">
                <a:solidFill>
                  <a:srgbClr val="002060"/>
                </a:solidFill>
              </a:rPr>
              <a:t>T-statistic: 0.41849641879460275 </a:t>
            </a:r>
          </a:p>
          <a:p>
            <a:r>
              <a:rPr lang="en-IN" dirty="0">
                <a:solidFill>
                  <a:srgbClr val="002060"/>
                </a:solidFill>
              </a:rPr>
              <a:t>P-value: 0.6825227063931477</a:t>
            </a:r>
          </a:p>
          <a:p>
            <a:r>
              <a:rPr lang="en-IN" dirty="0">
                <a:solidFill>
                  <a:srgbClr val="002060"/>
                </a:solidFill>
              </a:rPr>
              <a:t> No significant difference: Age does not impact spending.</a:t>
            </a:r>
          </a:p>
          <a:p>
            <a:r>
              <a:rPr lang="en-IN" dirty="0">
                <a:solidFill>
                  <a:srgbClr val="002060"/>
                </a:solidFill>
              </a:rPr>
              <a:t> Hypothesis 3: Male vs Female Purchase Counts </a:t>
            </a:r>
          </a:p>
          <a:p>
            <a:r>
              <a:rPr lang="en-IN" dirty="0">
                <a:solidFill>
                  <a:srgbClr val="002060"/>
                </a:solidFill>
              </a:rPr>
              <a:t>Chi2-statistic: 0.05263157894736842 </a:t>
            </a:r>
          </a:p>
          <a:p>
            <a:r>
              <a:rPr lang="en-IN" dirty="0">
                <a:solidFill>
                  <a:srgbClr val="002060"/>
                </a:solidFill>
              </a:rPr>
              <a:t>P-value: 0.8185458083820435</a:t>
            </a:r>
          </a:p>
          <a:p>
            <a:r>
              <a:rPr lang="en-IN" dirty="0">
                <a:solidFill>
                  <a:srgbClr val="002060"/>
                </a:solidFill>
              </a:rPr>
              <a:t> No significant difference: Gender does not impact purchase frequency</a:t>
            </a:r>
          </a:p>
        </p:txBody>
      </p:sp>
    </p:spTree>
    <p:extLst>
      <p:ext uri="{BB962C8B-B14F-4D97-AF65-F5344CB8AC3E}">
        <p14:creationId xmlns:p14="http://schemas.microsoft.com/office/powerpoint/2010/main" val="403449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A1F1C-A48E-FF65-76C0-92198ED48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Business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36823-7A30-08E2-9201-2B6C9DA9A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Laptops remain the main revenue driver in the dataset</a:t>
            </a:r>
          </a:p>
          <a:p>
            <a:r>
              <a:rPr lang="en-IN" sz="2400" b="1" dirty="0"/>
              <a:t>Younger customers show strong buying patterns, but results are not statistically validated</a:t>
            </a:r>
          </a:p>
          <a:p>
            <a:r>
              <a:rPr lang="en-IN" sz="2400" b="1" dirty="0"/>
              <a:t>Gender does not impact purchase frequency</a:t>
            </a:r>
          </a:p>
          <a:p>
            <a:r>
              <a:rPr lang="en-IN" sz="2400" b="1" dirty="0"/>
              <a:t>Insights are directional, not conclusive due to small sample size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5647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8714C-8E91-E098-9075-AE2EF9CD9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C87BA-F7EA-949B-D5E0-AC7A44C2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b="1" dirty="0"/>
              <a:t>Collect larger datasets for stronger statistical validation</a:t>
            </a:r>
          </a:p>
          <a:p>
            <a:r>
              <a:rPr lang="en-IN" sz="2400" b="1" dirty="0"/>
              <a:t>Focus marketing campaigns on laptops (main revenue driver)</a:t>
            </a:r>
          </a:p>
          <a:p>
            <a:r>
              <a:rPr lang="en-IN" sz="2400" b="1" dirty="0"/>
              <a:t>Target younger customers with promotions, but validate with more data</a:t>
            </a:r>
          </a:p>
          <a:p>
            <a:r>
              <a:rPr lang="en-IN" sz="2400" b="1" dirty="0"/>
              <a:t>Explore loyalty programs for repeat buyers</a:t>
            </a:r>
          </a:p>
          <a:p>
            <a:r>
              <a:rPr lang="en-IN" sz="2400" b="1" dirty="0"/>
              <a:t>Build dashboards for continuous monitoring of sales patterns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5842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9AB25-AE49-673A-5DC1-EAD31294D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Key Learnings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A56D7-D3A4-2FA1-8D55-CD4BFE0A5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3200" b="1" dirty="0"/>
              <a:t>Python (pandas for cleaning).</a:t>
            </a:r>
          </a:p>
          <a:p>
            <a:r>
              <a:rPr lang="en-IN" sz="3200" b="1" dirty="0"/>
              <a:t>SQL (business queries &amp; joins).</a:t>
            </a:r>
          </a:p>
          <a:p>
            <a:r>
              <a:rPr lang="en-IN" sz="3200" b="1" dirty="0"/>
              <a:t>Power BI (dashboards, KPIs).</a:t>
            </a:r>
          </a:p>
          <a:p>
            <a:r>
              <a:rPr lang="en-IN" sz="3200" b="1" dirty="0"/>
              <a:t>R (basic visualization).</a:t>
            </a:r>
          </a:p>
          <a:p>
            <a:r>
              <a:rPr lang="en-IN" sz="3200" b="1" dirty="0"/>
              <a:t>Storytelling &amp; hypothesis testing.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9770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01C65-FBD0-7558-9797-C24B8F96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6A676-B473-FDF3-8FD1-F249DDAD9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00200"/>
            <a:ext cx="11430000" cy="4870174"/>
          </a:xfrm>
        </p:spPr>
        <p:txBody>
          <a:bodyPr>
            <a:normAutofit fontScale="55000" lnSpcReduction="20000"/>
          </a:bodyPr>
          <a:lstStyle/>
          <a:p>
            <a:r>
              <a:rPr lang="en-IN" sz="2900" b="1" dirty="0"/>
              <a:t>Technical Growth</a:t>
            </a:r>
            <a:endParaRPr lang="en-IN" sz="2900" dirty="0"/>
          </a:p>
          <a:p>
            <a:pPr lvl="1"/>
            <a:r>
              <a:rPr lang="en-IN" dirty="0"/>
              <a:t>Learned how to clean and transform raw datasets into analysis-ready formats.</a:t>
            </a:r>
          </a:p>
          <a:p>
            <a:pPr lvl="1"/>
            <a:r>
              <a:rPr lang="en-IN" dirty="0"/>
              <a:t>Strengthened SQL query writing for business questions.</a:t>
            </a:r>
          </a:p>
          <a:p>
            <a:pPr lvl="1"/>
            <a:r>
              <a:rPr lang="en-IN" dirty="0"/>
              <a:t>Gained hands-on experience with Power BI dashboards and KPI cards.</a:t>
            </a:r>
          </a:p>
          <a:p>
            <a:pPr lvl="1"/>
            <a:r>
              <a:rPr lang="en-IN" dirty="0"/>
              <a:t>Practiced hypothesis testing and statistical validation.</a:t>
            </a:r>
          </a:p>
          <a:p>
            <a:r>
              <a:rPr lang="en-IN" sz="2900" b="1" dirty="0"/>
              <a:t>Analytical Mindset</a:t>
            </a:r>
            <a:endParaRPr lang="en-IN" sz="2900" dirty="0"/>
          </a:p>
          <a:p>
            <a:pPr lvl="1"/>
            <a:r>
              <a:rPr lang="en-IN" dirty="0"/>
              <a:t>Developed the ability to spot patterns and trends in messy data.</a:t>
            </a:r>
          </a:p>
          <a:p>
            <a:pPr lvl="1"/>
            <a:r>
              <a:rPr lang="en-IN" dirty="0"/>
              <a:t>Learned to question assumptions and validate insights with data.</a:t>
            </a:r>
          </a:p>
          <a:p>
            <a:pPr lvl="1"/>
            <a:r>
              <a:rPr lang="en-IN" dirty="0"/>
              <a:t>Understood the importance of sample size and data quality in analysis.</a:t>
            </a:r>
          </a:p>
          <a:p>
            <a:r>
              <a:rPr lang="en-IN" sz="3200" b="1" dirty="0"/>
              <a:t>Business Understanding</a:t>
            </a:r>
            <a:endParaRPr lang="en-IN" sz="3200" dirty="0"/>
          </a:p>
          <a:p>
            <a:pPr lvl="1"/>
            <a:r>
              <a:rPr lang="en-IN" dirty="0"/>
              <a:t>Connected technical outputs to business impact (e.g., laptops as revenue driver).</a:t>
            </a:r>
          </a:p>
          <a:p>
            <a:pPr lvl="1"/>
            <a:r>
              <a:rPr lang="en-IN" dirty="0"/>
              <a:t>Learned how to translate numbers into actionable recommendations.</a:t>
            </a:r>
          </a:p>
          <a:p>
            <a:pPr lvl="1"/>
            <a:r>
              <a:rPr lang="en-IN" dirty="0"/>
              <a:t>Experienced how dashboards and KPIs support decision-making.</a:t>
            </a:r>
          </a:p>
          <a:p>
            <a:r>
              <a:rPr lang="en-IN" sz="3200" b="1" dirty="0"/>
              <a:t>Professional Skills</a:t>
            </a:r>
            <a:endParaRPr lang="en-IN" sz="3200" dirty="0"/>
          </a:p>
          <a:p>
            <a:pPr lvl="1"/>
            <a:r>
              <a:rPr lang="en-IN" dirty="0"/>
              <a:t>Improved storytelling and presentation skills.</a:t>
            </a:r>
          </a:p>
          <a:p>
            <a:pPr lvl="1"/>
            <a:r>
              <a:rPr lang="en-IN" dirty="0"/>
              <a:t>Learned to document work clearly in GitHub for professional portfolios.</a:t>
            </a:r>
          </a:p>
          <a:p>
            <a:pPr lvl="1"/>
            <a:r>
              <a:rPr lang="en-IN" dirty="0"/>
              <a:t>Practiced communicating insights to non-technical stakeholders.</a:t>
            </a:r>
          </a:p>
          <a:p>
            <a:r>
              <a:rPr lang="en-IN" sz="3200" b="1" dirty="0"/>
              <a:t>Personal Growth</a:t>
            </a:r>
            <a:endParaRPr lang="en-IN" sz="3200" dirty="0"/>
          </a:p>
          <a:p>
            <a:pPr lvl="1"/>
            <a:r>
              <a:rPr lang="en-IN" dirty="0"/>
              <a:t>Built confidence in handling end-to-end projects independently.</a:t>
            </a:r>
          </a:p>
          <a:p>
            <a:pPr lvl="1"/>
            <a:r>
              <a:rPr lang="en-IN" dirty="0"/>
              <a:t>Experienced the discipline of working with timelines and deliverables.</a:t>
            </a:r>
          </a:p>
          <a:p>
            <a:pPr lvl="1"/>
            <a:r>
              <a:rPr lang="en-IN" dirty="0"/>
              <a:t>Strengthened problem-solving skills by handling data inconsistencies.</a:t>
            </a:r>
          </a:p>
          <a:p>
            <a:pPr lvl="1"/>
            <a:r>
              <a:rPr lang="en-IN" dirty="0"/>
              <a:t>Learned to reflect on mistakes (like small sample size limitations) and improve.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9986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338C7-68F8-58FC-4210-90771BA7C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05CE9-04E3-6494-C085-310AD513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042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Savon</Template>
  <TotalTime>83</TotalTime>
  <Words>551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Century Gothic</vt:lpstr>
      <vt:lpstr>Garamond</vt:lpstr>
      <vt:lpstr>Savon</vt:lpstr>
      <vt:lpstr>Data Analytics Internship Portfolio – ApexPlanet Software Pvt Ltd </vt:lpstr>
      <vt:lpstr>Data Storytelling &amp; Statistical Validation. </vt:lpstr>
      <vt:lpstr>Dataset Overview </vt:lpstr>
      <vt:lpstr>Key Insights</vt:lpstr>
      <vt:lpstr>Hypotheses Tested </vt:lpstr>
      <vt:lpstr>Business Impact</vt:lpstr>
      <vt:lpstr>Recommendations</vt:lpstr>
      <vt:lpstr>Key Learnings</vt:lpstr>
      <vt:lpstr>Reflection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Akshaya Itha</dc:creator>
  <cp:lastModifiedBy>Akshaya Itha</cp:lastModifiedBy>
  <cp:revision>1</cp:revision>
  <dcterms:created xsi:type="dcterms:W3CDTF">2026-07-01T16:05:38Z</dcterms:created>
  <dcterms:modified xsi:type="dcterms:W3CDTF">2026-07-02T16:48:41Z</dcterms:modified>
</cp:coreProperties>
</file>