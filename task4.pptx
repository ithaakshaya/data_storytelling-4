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1" d="100"/>
          <a:sy n="51" d="100"/>
        </p:scale>
        <p:origin x="5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170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74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254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46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7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73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3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165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1067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80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4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756C640-570B-4FAE-9AEF-E25D022F729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99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76DE-FD1C-3E57-73ED-875BDFB4C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383435"/>
            <a:ext cx="9068586" cy="1045565"/>
          </a:xfrm>
        </p:spPr>
        <p:txBody>
          <a:bodyPr>
            <a:normAutofit fontScale="90000"/>
          </a:bodyPr>
          <a:lstStyle/>
          <a:p>
            <a:r>
              <a:rPr lang="en-IN" sz="2800" b="1" i="1" dirty="0"/>
              <a:t>Data Storytelling &amp; Statistical Validation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F81F5-B0FE-44DD-5DCD-6F9D39B7A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992" y="3702569"/>
            <a:ext cx="9070848" cy="1469037"/>
          </a:xfrm>
        </p:spPr>
        <p:txBody>
          <a:bodyPr/>
          <a:lstStyle/>
          <a:p>
            <a:r>
              <a:rPr lang="en-IN" sz="2000" b="1" i="1" dirty="0"/>
              <a:t>Analyzing customer transactions to identify sales patterns and validate insights using statistical tests</a:t>
            </a:r>
            <a:r>
              <a:rPr lang="en-IN" sz="2000" b="1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074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CD0E-647D-6D7C-5875-F36C94B3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2308"/>
            <a:ext cx="10058400" cy="131164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616C4-A51C-8D9F-12AB-C113B72BA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19331"/>
            <a:ext cx="10058400" cy="5546361"/>
          </a:xfrm>
        </p:spPr>
        <p:txBody>
          <a:bodyPr/>
          <a:lstStyle/>
          <a:p>
            <a:r>
              <a:rPr lang="en-IN" b="1" dirty="0"/>
              <a:t>19 transactions recorded in January 2024</a:t>
            </a:r>
          </a:p>
          <a:p>
            <a:r>
              <a:rPr lang="en-IN" b="1" dirty="0"/>
              <a:t>Customer details include: </a:t>
            </a:r>
            <a:r>
              <a:rPr lang="en-IN" b="1" dirty="0" err="1"/>
              <a:t>TransactionID</a:t>
            </a:r>
            <a:r>
              <a:rPr lang="en-IN" b="1" dirty="0"/>
              <a:t>, </a:t>
            </a:r>
            <a:r>
              <a:rPr lang="en-IN" b="1" dirty="0" err="1"/>
              <a:t>CustomerID</a:t>
            </a:r>
            <a:r>
              <a:rPr lang="en-IN" b="1" dirty="0"/>
              <a:t>, Name, DOB, Gender, Product, Quantity, Price, </a:t>
            </a:r>
            <a:r>
              <a:rPr lang="en-IN" b="1" dirty="0" err="1"/>
              <a:t>PurchaseDate</a:t>
            </a:r>
            <a:r>
              <a:rPr lang="en-IN" b="1" dirty="0"/>
              <a:t>, Age</a:t>
            </a:r>
          </a:p>
          <a:p>
            <a:r>
              <a:rPr lang="en-IN" b="1" dirty="0"/>
              <a:t>Age range: 13 to 64 years</a:t>
            </a:r>
          </a:p>
          <a:p>
            <a:r>
              <a:rPr lang="en-IN" b="1" dirty="0"/>
              <a:t>Products purchased: Laptop, Phone, Tablet, Monitor, Mouse, Keyboard, Earphones</a:t>
            </a:r>
          </a:p>
          <a:p>
            <a:r>
              <a:rPr lang="en-IN" b="1" dirty="0"/>
              <a:t>Balanced gender distribution across customers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A9579-96DB-7539-3D1C-F93936E3D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75" y="3226980"/>
            <a:ext cx="11527435" cy="351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0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6BF0-6942-26FF-CAB6-E4D7478D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9764"/>
            <a:ext cx="10058400" cy="884420"/>
          </a:xfrm>
        </p:spPr>
        <p:txBody>
          <a:bodyPr/>
          <a:lstStyle/>
          <a:p>
            <a:pPr algn="ctr"/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9C81-8033-045F-B7CA-A1A667CA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753" y="1019331"/>
            <a:ext cx="11452485" cy="5478905"/>
          </a:xfrm>
        </p:spPr>
        <p:txBody>
          <a:bodyPr/>
          <a:lstStyle/>
          <a:p>
            <a:r>
              <a:rPr lang="en-IN" b="1" dirty="0"/>
              <a:t>Laptops generate the highest revenue (₹55,000–₹110,000 per purchase)</a:t>
            </a:r>
          </a:p>
          <a:p>
            <a:r>
              <a:rPr lang="en-IN" b="1" dirty="0"/>
              <a:t>Younger customers (20–30 years) are frequent buyers</a:t>
            </a:r>
          </a:p>
          <a:p>
            <a:r>
              <a:rPr lang="en-IN" b="1" dirty="0"/>
              <a:t>Accessories (Mouse, Earphones) are low-value but repeat purchases</a:t>
            </a:r>
          </a:p>
          <a:p>
            <a:r>
              <a:rPr lang="en-IN" b="1" dirty="0"/>
              <a:t>Some customers appear multiple times, showing loyalty patterns</a:t>
            </a:r>
          </a:p>
          <a:p>
            <a:endParaRPr lang="en-IN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9334E-2D5D-41DE-BD4A-2614A8AE8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925" y="553862"/>
            <a:ext cx="4082322" cy="2699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F7552-E2EB-84ED-9129-D9CC3F0F5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81" y="2833607"/>
            <a:ext cx="4348136" cy="33423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E0A553-9AD2-5494-FE4D-F42E8183A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354" y="3604361"/>
            <a:ext cx="4781862" cy="268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4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F7CE-C20C-015F-3DA9-FE1564AC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9607"/>
            <a:ext cx="10058400" cy="74950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Hypotheses Tested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9DB70-42B3-469F-BA29-364E2D5D9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85" y="959369"/>
            <a:ext cx="11317574" cy="5546361"/>
          </a:xfrm>
        </p:spPr>
        <p:txBody>
          <a:bodyPr>
            <a:normAutofit lnSpcReduction="10000"/>
          </a:bodyPr>
          <a:lstStyle/>
          <a:p>
            <a:r>
              <a:rPr lang="en-IN" sz="2000" b="1" dirty="0"/>
              <a:t>Hypothesis 1: Laptop vs Phone spending differs significantly</a:t>
            </a:r>
          </a:p>
          <a:p>
            <a:r>
              <a:rPr lang="en-IN" sz="2000" b="1" dirty="0"/>
              <a:t>Hypothesis 2: Younger (&lt;30) vs Older (≥30) customers spend differently</a:t>
            </a:r>
          </a:p>
          <a:p>
            <a:r>
              <a:rPr lang="en-IN" sz="2000" b="1" dirty="0"/>
              <a:t>Hypothesis 3: Male vs Female purchase frequency differs</a:t>
            </a:r>
          </a:p>
          <a:p>
            <a:r>
              <a:rPr lang="en-IN" dirty="0">
                <a:solidFill>
                  <a:srgbClr val="002060"/>
                </a:solidFill>
              </a:rPr>
              <a:t>Hypothesis 1: Laptop vs Phone Spending</a:t>
            </a:r>
          </a:p>
          <a:p>
            <a:r>
              <a:rPr lang="en-IN" dirty="0">
                <a:solidFill>
                  <a:srgbClr val="002060"/>
                </a:solidFill>
              </a:rPr>
              <a:t> T-statistic: nan</a:t>
            </a:r>
          </a:p>
          <a:p>
            <a:r>
              <a:rPr lang="en-IN" dirty="0">
                <a:solidFill>
                  <a:srgbClr val="002060"/>
                </a:solidFill>
              </a:rPr>
              <a:t> P-value: nan </a:t>
            </a:r>
          </a:p>
          <a:p>
            <a:r>
              <a:rPr lang="en-IN" dirty="0">
                <a:solidFill>
                  <a:srgbClr val="002060"/>
                </a:solidFill>
              </a:rPr>
              <a:t>No significant difference: Laptop and Phone spending are similar. </a:t>
            </a:r>
          </a:p>
          <a:p>
            <a:r>
              <a:rPr lang="en-IN" dirty="0">
                <a:solidFill>
                  <a:srgbClr val="002060"/>
                </a:solidFill>
              </a:rPr>
              <a:t>Hypothesis 2: Younger vs Older Customers Spending </a:t>
            </a:r>
          </a:p>
          <a:p>
            <a:r>
              <a:rPr lang="en-IN" dirty="0">
                <a:solidFill>
                  <a:srgbClr val="002060"/>
                </a:solidFill>
              </a:rPr>
              <a:t>T-statistic: 0.41849641879460275 </a:t>
            </a:r>
          </a:p>
          <a:p>
            <a:r>
              <a:rPr lang="en-IN" dirty="0">
                <a:solidFill>
                  <a:srgbClr val="002060"/>
                </a:solidFill>
              </a:rPr>
              <a:t>P-value: 0.6825227063931477</a:t>
            </a:r>
          </a:p>
          <a:p>
            <a:r>
              <a:rPr lang="en-IN" dirty="0">
                <a:solidFill>
                  <a:srgbClr val="002060"/>
                </a:solidFill>
              </a:rPr>
              <a:t> No significant difference: Age does not impact spending.</a:t>
            </a:r>
          </a:p>
          <a:p>
            <a:r>
              <a:rPr lang="en-IN" dirty="0">
                <a:solidFill>
                  <a:srgbClr val="002060"/>
                </a:solidFill>
              </a:rPr>
              <a:t> Hypothesis 3: Male vs Female Purchase Counts </a:t>
            </a:r>
          </a:p>
          <a:p>
            <a:r>
              <a:rPr lang="en-IN" dirty="0">
                <a:solidFill>
                  <a:srgbClr val="002060"/>
                </a:solidFill>
              </a:rPr>
              <a:t>Chi2-statistic: 0.05263157894736842 </a:t>
            </a:r>
          </a:p>
          <a:p>
            <a:r>
              <a:rPr lang="en-IN" dirty="0">
                <a:solidFill>
                  <a:srgbClr val="002060"/>
                </a:solidFill>
              </a:rPr>
              <a:t>P-value: 0.8185458083820435</a:t>
            </a:r>
          </a:p>
          <a:p>
            <a:r>
              <a:rPr lang="en-IN" dirty="0">
                <a:solidFill>
                  <a:srgbClr val="002060"/>
                </a:solidFill>
              </a:rPr>
              <a:t> No significant difference: Gender does not impact purchase frequency</a:t>
            </a:r>
          </a:p>
        </p:txBody>
      </p:sp>
    </p:spTree>
    <p:extLst>
      <p:ext uri="{BB962C8B-B14F-4D97-AF65-F5344CB8AC3E}">
        <p14:creationId xmlns:p14="http://schemas.microsoft.com/office/powerpoint/2010/main" val="403449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1F1C-A48E-FF65-76C0-92198ED4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36823-7A30-08E2-9201-2B6C9DA9A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Laptops remain the main revenue driver in the dataset</a:t>
            </a:r>
          </a:p>
          <a:p>
            <a:r>
              <a:rPr lang="en-IN" sz="2400" b="1" dirty="0"/>
              <a:t>Younger customers show strong buying patterns, but results are not statistically validated</a:t>
            </a:r>
          </a:p>
          <a:p>
            <a:r>
              <a:rPr lang="en-IN" sz="2400" b="1" dirty="0"/>
              <a:t>Gender does not impact purchase frequency</a:t>
            </a:r>
          </a:p>
          <a:p>
            <a:r>
              <a:rPr lang="en-IN" sz="2400" b="1" dirty="0"/>
              <a:t>Insights are directional, not conclusive due to small sample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564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714C-8E91-E098-9075-AE2EF9CD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87BA-F7EA-949B-D5E0-AC7A44C21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Collect larger datasets for stronger statistical validation</a:t>
            </a:r>
          </a:p>
          <a:p>
            <a:r>
              <a:rPr lang="en-IN" sz="2400" b="1" dirty="0"/>
              <a:t>Focus marketing campaigns on laptops (main revenue driver)</a:t>
            </a:r>
          </a:p>
          <a:p>
            <a:r>
              <a:rPr lang="en-IN" sz="2400" b="1" dirty="0"/>
              <a:t>Target younger customers with promotions, but validate with more data</a:t>
            </a:r>
          </a:p>
          <a:p>
            <a:r>
              <a:rPr lang="en-IN" sz="2400" b="1" dirty="0"/>
              <a:t>Explore loyalty programs for repeat buyers</a:t>
            </a:r>
          </a:p>
          <a:p>
            <a:r>
              <a:rPr lang="en-IN" sz="2400" b="1" dirty="0"/>
              <a:t>Build dashboards for continuous monitoring of sales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842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67</TotalTime>
  <Words>324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Garamond</vt:lpstr>
      <vt:lpstr>Savon</vt:lpstr>
      <vt:lpstr>Data Storytelling &amp; Statistical Validation. </vt:lpstr>
      <vt:lpstr>Dataset Overview </vt:lpstr>
      <vt:lpstr>Key Insights</vt:lpstr>
      <vt:lpstr>Hypotheses Tested </vt:lpstr>
      <vt:lpstr>Business Impact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Itha</dc:creator>
  <cp:lastModifiedBy>Akshaya Itha</cp:lastModifiedBy>
  <cp:revision>1</cp:revision>
  <dcterms:created xsi:type="dcterms:W3CDTF">2026-07-01T16:05:38Z</dcterms:created>
  <dcterms:modified xsi:type="dcterms:W3CDTF">2026-07-01T17:13:30Z</dcterms:modified>
</cp:coreProperties>
</file>