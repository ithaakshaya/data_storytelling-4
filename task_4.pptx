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74" r:id="rId1"/>
  </p:sldMasterIdLst>
  <p:sldIdLst>
    <p:sldId id="262" r:id="rId2"/>
    <p:sldId id="256" r:id="rId3"/>
    <p:sldId id="257" r:id="rId4"/>
    <p:sldId id="258" r:id="rId5"/>
    <p:sldId id="259" r:id="rId6"/>
    <p:sldId id="260" r:id="rId7"/>
    <p:sldId id="261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0BD5E28-1E42-4B02-9F1A-1992E55C3366}" v="13" dt="2026-07-02T16:46:50.66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77" d="100"/>
          <a:sy n="77" d="100"/>
        </p:scale>
        <p:origin x="82" y="36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grpSp>
        <p:nvGrpSpPr>
          <p:cNvPr id="4" name="Group 3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5"/>
            <a:ext cx="1554480" cy="527213"/>
          </a:xfrm>
        </p:spPr>
        <p:txBody>
          <a:bodyPr/>
          <a:lstStyle>
            <a:lvl1pPr algn="ctr">
              <a:defRPr sz="13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7756C640-570B-4FAE-9AEF-E25D022F729E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453896" y="5211060"/>
            <a:ext cx="5905500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19" y="5212080"/>
            <a:ext cx="211188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6B807C19-8DA8-42E3-A4B1-5308921F37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80699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6C640-570B-4FAE-9AEF-E25D022F729E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07C19-8DA8-42E3-A4B1-5308921F37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1901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0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3623" y="2094309"/>
            <a:ext cx="9070848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72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3624" y="4682062"/>
            <a:ext cx="9070848" cy="4572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21808" y="1344502"/>
            <a:ext cx="1554480" cy="530352"/>
          </a:xfrm>
        </p:spPr>
        <p:txBody>
          <a:bodyPr/>
          <a:lstStyle>
            <a:lvl1pPr algn="ctr">
              <a:defRPr lang="en-US" sz="13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7756C640-570B-4FAE-9AEF-E25D022F729E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3553" y="5211060"/>
            <a:ext cx="5907024" cy="228600"/>
          </a:xfrm>
        </p:spPr>
        <p:txBody>
          <a:bodyPr/>
          <a:lstStyle>
            <a:lvl1pPr algn="l">
              <a:defRPr/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211060"/>
            <a:ext cx="2112264" cy="228600"/>
          </a:xfrm>
        </p:spPr>
        <p:txBody>
          <a:bodyPr/>
          <a:lstStyle/>
          <a:p>
            <a:fld id="{6B807C19-8DA8-42E3-A4B1-5308921F37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50333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32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6C640-570B-4FAE-9AEF-E25D022F729E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07C19-8DA8-42E3-A4B1-5308921F37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12898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55898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336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3368" y="2756581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6C640-570B-4FAE-9AEF-E25D022F729E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07C19-8DA8-42E3-A4B1-5308921F37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39359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6C640-570B-4FAE-9AEF-E25D022F729E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07C19-8DA8-42E3-A4B1-5308921F37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21495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6C640-570B-4FAE-9AEF-E25D022F729E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07C19-8DA8-42E3-A4B1-5308921F37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35804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245529" y="237744"/>
            <a:ext cx="8531352" cy="638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7392"/>
            <a:ext cx="2430780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cap="none" spc="0" baseline="0" dirty="0">
                <a:solidFill>
                  <a:srgbClr val="FFFFFF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7772400" cy="53340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0780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6C640-570B-4FAE-9AEF-E25D022F729E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en-IN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3677" y="6223002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6B807C19-8DA8-42E3-A4B1-5308921F37AA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Rectangle 11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8242389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3504"/>
            <a:ext cx="2432304" cy="1645920"/>
          </a:xfrm>
        </p:spPr>
        <p:txBody>
          <a:bodyPr anchor="b">
            <a:noAutofit/>
          </a:bodyPr>
          <a:lstStyle>
            <a:lvl1pPr algn="l">
              <a:defRPr sz="2800" b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8531352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2304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7756C640-570B-4FAE-9AEF-E25D022F729E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1000" kern="1200" dirty="0"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227064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6B807C19-8DA8-42E3-A4B1-5308921F37AA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3070920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6C640-570B-4FAE-9AEF-E25D022F729E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07C19-8DA8-42E3-A4B1-5308921F37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70898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6C640-570B-4FAE-9AEF-E25D022F729E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07C19-8DA8-42E3-A4B1-5308921F37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37585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74320" y="6307672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7756C640-570B-4FAE-9AEF-E25D022F729E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9960" y="6307672"/>
            <a:ext cx="521208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6307672"/>
            <a:ext cx="146304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6B807C19-8DA8-42E3-A4B1-5308921F37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7017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5" r:id="rId1"/>
    <p:sldLayoutId id="2147483876" r:id="rId2"/>
    <p:sldLayoutId id="2147483877" r:id="rId3"/>
    <p:sldLayoutId id="2147483878" r:id="rId4"/>
    <p:sldLayoutId id="2147483879" r:id="rId5"/>
    <p:sldLayoutId id="2147483880" r:id="rId6"/>
    <p:sldLayoutId id="2147483881" r:id="rId7"/>
    <p:sldLayoutId id="2147483882" r:id="rId8"/>
    <p:sldLayoutId id="2147483883" r:id="rId9"/>
    <p:sldLayoutId id="2147483884" r:id="rId10"/>
    <p:sldLayoutId id="214748388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A6921-1E84-981F-05EA-A0A9AB3A9E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1496763"/>
          </a:xfrm>
        </p:spPr>
        <p:txBody>
          <a:bodyPr/>
          <a:lstStyle/>
          <a:p>
            <a:r>
              <a:rPr lang="en-IN" sz="2400" b="1" dirty="0"/>
              <a:t>Data Analytics Internship Portfolio – </a:t>
            </a:r>
            <a:r>
              <a:rPr lang="en-IN" sz="2400" b="1" dirty="0" err="1"/>
              <a:t>ApexPlanet</a:t>
            </a:r>
            <a:r>
              <a:rPr lang="en-IN" sz="2400" b="1" dirty="0"/>
              <a:t> Software Pvt Ltd</a:t>
            </a:r>
            <a:br>
              <a:rPr lang="en-IN" sz="2400" b="1" dirty="0"/>
            </a:br>
            <a:endParaRPr lang="en-IN" sz="24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34347C-A34E-AF59-7F9E-81E0EE5D0D5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l"/>
            <a:r>
              <a:rPr lang="en-IN" sz="2400" b="1" dirty="0"/>
              <a:t>Itha Akshaya</a:t>
            </a:r>
          </a:p>
        </p:txBody>
      </p:sp>
    </p:spTree>
    <p:extLst>
      <p:ext uri="{BB962C8B-B14F-4D97-AF65-F5344CB8AC3E}">
        <p14:creationId xmlns:p14="http://schemas.microsoft.com/office/powerpoint/2010/main" val="13607304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C76DE-FD1C-3E57-73ED-875BDFB4CF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61708" y="2383435"/>
            <a:ext cx="9068586" cy="1045565"/>
          </a:xfrm>
        </p:spPr>
        <p:txBody>
          <a:bodyPr>
            <a:normAutofit fontScale="90000"/>
          </a:bodyPr>
          <a:lstStyle/>
          <a:p>
            <a:r>
              <a:rPr lang="en-IN" sz="2800" b="1" i="1" dirty="0"/>
              <a:t>Data Storytelling &amp; Statistical Validation</a:t>
            </a:r>
            <a:r>
              <a:rPr lang="en-IN" dirty="0"/>
              <a:t>.</a:t>
            </a:r>
            <a:br>
              <a:rPr lang="en-IN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FF81F5-B0FE-44DD-5DCD-6F9D39B7A3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26992" y="3702569"/>
            <a:ext cx="9070848" cy="1469037"/>
          </a:xfrm>
        </p:spPr>
        <p:txBody>
          <a:bodyPr/>
          <a:lstStyle/>
          <a:p>
            <a:r>
              <a:rPr lang="en-IN" sz="2000" b="1" i="1" dirty="0"/>
              <a:t>Analyzing customer transactions to identify sales patterns and validate insights using statistical tests</a:t>
            </a:r>
            <a:r>
              <a:rPr lang="en-IN" sz="2000" b="1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310742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1CD0E-647D-6D7C-5875-F36C94B37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292308"/>
            <a:ext cx="10058400" cy="1311640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/>
              <a:t>Dataset Overview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D616C4-A51C-8D9F-12AB-C113B72BA8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019331"/>
            <a:ext cx="10058400" cy="5546361"/>
          </a:xfrm>
        </p:spPr>
        <p:txBody>
          <a:bodyPr/>
          <a:lstStyle/>
          <a:p>
            <a:r>
              <a:rPr lang="en-IN" b="1" dirty="0"/>
              <a:t>19 transactions recorded in January 2024</a:t>
            </a:r>
          </a:p>
          <a:p>
            <a:r>
              <a:rPr lang="en-IN" b="1" dirty="0"/>
              <a:t>Customer details include: </a:t>
            </a:r>
            <a:r>
              <a:rPr lang="en-IN" b="1" dirty="0" err="1"/>
              <a:t>TransactionID</a:t>
            </a:r>
            <a:r>
              <a:rPr lang="en-IN" b="1" dirty="0"/>
              <a:t>, </a:t>
            </a:r>
            <a:r>
              <a:rPr lang="en-IN" b="1" dirty="0" err="1"/>
              <a:t>CustomerID</a:t>
            </a:r>
            <a:r>
              <a:rPr lang="en-IN" b="1" dirty="0"/>
              <a:t>, Name, DOB, Gender, Product, Quantity, Price, </a:t>
            </a:r>
            <a:r>
              <a:rPr lang="en-IN" b="1" dirty="0" err="1"/>
              <a:t>PurchaseDate</a:t>
            </a:r>
            <a:r>
              <a:rPr lang="en-IN" b="1" dirty="0"/>
              <a:t>, Age</a:t>
            </a:r>
          </a:p>
          <a:p>
            <a:r>
              <a:rPr lang="en-IN" b="1" dirty="0"/>
              <a:t>Age range: 13 to 64 years</a:t>
            </a:r>
          </a:p>
          <a:p>
            <a:r>
              <a:rPr lang="en-IN" b="1" dirty="0"/>
              <a:t>Products purchased: Laptop, Phone, Tablet, Monitor, Mouse, Keyboard, Earphones</a:t>
            </a:r>
          </a:p>
          <a:p>
            <a:r>
              <a:rPr lang="en-IN" b="1" dirty="0"/>
              <a:t>Balanced gender distribution across customers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9A9579-96DB-7539-3D1C-F93936E3D3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775" y="3226980"/>
            <a:ext cx="11527435" cy="3518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33009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646BF0-6942-26FF-CAB6-E4D7478D0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359764"/>
            <a:ext cx="10058400" cy="884420"/>
          </a:xfrm>
        </p:spPr>
        <p:txBody>
          <a:bodyPr/>
          <a:lstStyle/>
          <a:p>
            <a:pPr algn="ctr"/>
            <a:r>
              <a:rPr lang="en-IN" dirty="0"/>
              <a:t>Key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FF9C81-8033-045F-B7CA-A1A667CACB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4753" y="1019331"/>
            <a:ext cx="11452485" cy="5478905"/>
          </a:xfrm>
        </p:spPr>
        <p:txBody>
          <a:bodyPr/>
          <a:lstStyle/>
          <a:p>
            <a:r>
              <a:rPr lang="en-IN" b="1" dirty="0"/>
              <a:t>Laptops generate the highest revenue (₹55,000–₹110,000 per purchase)</a:t>
            </a:r>
          </a:p>
          <a:p>
            <a:r>
              <a:rPr lang="en-IN" b="1" dirty="0"/>
              <a:t>Younger customers (20–30 years) are frequent buyers</a:t>
            </a:r>
          </a:p>
          <a:p>
            <a:r>
              <a:rPr lang="en-IN" b="1" dirty="0"/>
              <a:t>Accessories (Mouse, Earphones) are low-value but repeat purchases</a:t>
            </a:r>
          </a:p>
          <a:p>
            <a:r>
              <a:rPr lang="en-IN" b="1" dirty="0"/>
              <a:t>Some customers appear multiple times, showing loyalty patterns</a:t>
            </a:r>
          </a:p>
          <a:p>
            <a:endParaRPr lang="en-IN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819334E-2D5D-41DE-BD4A-2614A8AE84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4925" y="553862"/>
            <a:ext cx="4082322" cy="269977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95F7552-E2EB-84ED-9129-D9CC3F0F5E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781" y="2833607"/>
            <a:ext cx="4348136" cy="334234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CE0A553-9AD2-5494-FE4D-F42E8183AE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6354" y="3604361"/>
            <a:ext cx="4781862" cy="2682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5443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CF7CE-C20C-015F-3DA9-FE1564ACC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599607"/>
            <a:ext cx="10058400" cy="749508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/>
              <a:t>Hypotheses Tested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C9DB70-42B3-469F-BA29-364E2D5D92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685" y="959369"/>
            <a:ext cx="11317574" cy="5546361"/>
          </a:xfrm>
        </p:spPr>
        <p:txBody>
          <a:bodyPr>
            <a:normAutofit fontScale="92500" lnSpcReduction="10000"/>
          </a:bodyPr>
          <a:lstStyle/>
          <a:p>
            <a:r>
              <a:rPr lang="en-IN" sz="2000" b="1" dirty="0"/>
              <a:t>Hypothesis 1: Laptop vs Phone spending differs significantly</a:t>
            </a:r>
          </a:p>
          <a:p>
            <a:r>
              <a:rPr lang="en-IN" sz="2000" b="1" dirty="0"/>
              <a:t>Hypothesis 2: Younger (&lt;30) vs Older (≥30) customers spend differently</a:t>
            </a:r>
          </a:p>
          <a:p>
            <a:r>
              <a:rPr lang="en-IN" sz="2000" b="1" dirty="0"/>
              <a:t>Hypothesis 3: Male vs Female purchase frequency differs</a:t>
            </a:r>
          </a:p>
          <a:p>
            <a:r>
              <a:rPr lang="en-IN" dirty="0">
                <a:solidFill>
                  <a:srgbClr val="002060"/>
                </a:solidFill>
              </a:rPr>
              <a:t>Hypothesis 1: Laptop vs Phone Spending</a:t>
            </a:r>
          </a:p>
          <a:p>
            <a:r>
              <a:rPr lang="en-IN" dirty="0">
                <a:solidFill>
                  <a:srgbClr val="002060"/>
                </a:solidFill>
              </a:rPr>
              <a:t> T-statistic: nan</a:t>
            </a:r>
          </a:p>
          <a:p>
            <a:r>
              <a:rPr lang="en-IN" dirty="0">
                <a:solidFill>
                  <a:srgbClr val="002060"/>
                </a:solidFill>
              </a:rPr>
              <a:t> P-value: nan </a:t>
            </a:r>
          </a:p>
          <a:p>
            <a:r>
              <a:rPr lang="en-IN" dirty="0">
                <a:solidFill>
                  <a:srgbClr val="002060"/>
                </a:solidFill>
              </a:rPr>
              <a:t>No significant difference: Laptop and Phone spending are similar. </a:t>
            </a:r>
          </a:p>
          <a:p>
            <a:r>
              <a:rPr lang="en-IN" dirty="0">
                <a:solidFill>
                  <a:srgbClr val="002060"/>
                </a:solidFill>
              </a:rPr>
              <a:t>Hypothesis 2: Younger vs Older Customers Spending </a:t>
            </a:r>
          </a:p>
          <a:p>
            <a:r>
              <a:rPr lang="en-IN" dirty="0">
                <a:solidFill>
                  <a:srgbClr val="002060"/>
                </a:solidFill>
              </a:rPr>
              <a:t>T-statistic: 0.41849641879460275 </a:t>
            </a:r>
          </a:p>
          <a:p>
            <a:r>
              <a:rPr lang="en-IN" dirty="0">
                <a:solidFill>
                  <a:srgbClr val="002060"/>
                </a:solidFill>
              </a:rPr>
              <a:t>P-value: 0.6825227063931477</a:t>
            </a:r>
          </a:p>
          <a:p>
            <a:r>
              <a:rPr lang="en-IN" dirty="0">
                <a:solidFill>
                  <a:srgbClr val="002060"/>
                </a:solidFill>
              </a:rPr>
              <a:t> No significant difference: Age does not impact spending.</a:t>
            </a:r>
          </a:p>
          <a:p>
            <a:r>
              <a:rPr lang="en-IN" dirty="0">
                <a:solidFill>
                  <a:srgbClr val="002060"/>
                </a:solidFill>
              </a:rPr>
              <a:t> Hypothesis 3: Male vs Female Purchase Counts </a:t>
            </a:r>
          </a:p>
          <a:p>
            <a:r>
              <a:rPr lang="en-IN" dirty="0">
                <a:solidFill>
                  <a:srgbClr val="002060"/>
                </a:solidFill>
              </a:rPr>
              <a:t>Chi2-statistic: 0.05263157894736842 </a:t>
            </a:r>
          </a:p>
          <a:p>
            <a:r>
              <a:rPr lang="en-IN" dirty="0">
                <a:solidFill>
                  <a:srgbClr val="002060"/>
                </a:solidFill>
              </a:rPr>
              <a:t>P-value: 0.8185458083820435</a:t>
            </a:r>
          </a:p>
          <a:p>
            <a:r>
              <a:rPr lang="en-IN" dirty="0">
                <a:solidFill>
                  <a:srgbClr val="002060"/>
                </a:solidFill>
              </a:rPr>
              <a:t> No significant difference: Gender does not impact purchase frequency</a:t>
            </a:r>
          </a:p>
        </p:txBody>
      </p:sp>
    </p:spTree>
    <p:extLst>
      <p:ext uri="{BB962C8B-B14F-4D97-AF65-F5344CB8AC3E}">
        <p14:creationId xmlns:p14="http://schemas.microsoft.com/office/powerpoint/2010/main" val="40344914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9A1F1C-A48E-FF65-76C0-92198ED48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Business Impact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636823-7A30-08E2-9201-2B6C9DA9AB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400" b="1" dirty="0"/>
              <a:t>Laptops remain the main revenue driver in the dataset</a:t>
            </a:r>
          </a:p>
          <a:p>
            <a:r>
              <a:rPr lang="en-IN" sz="2400" b="1" dirty="0"/>
              <a:t>Younger customers show strong buying patterns, but results are not statistically validated</a:t>
            </a:r>
          </a:p>
          <a:p>
            <a:r>
              <a:rPr lang="en-IN" sz="2400" b="1" dirty="0"/>
              <a:t>Gender does not impact purchase frequency</a:t>
            </a:r>
          </a:p>
          <a:p>
            <a:r>
              <a:rPr lang="en-IN" sz="2400" b="1" dirty="0"/>
              <a:t>Insights are directional, not conclusive due to small sample size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156471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8714C-8E91-E098-9075-AE2EF9CD9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8C87BA-F7EA-949B-D5E0-AC7A44C212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b="1" dirty="0"/>
              <a:t>Collect larger datasets for stronger statistical validation</a:t>
            </a:r>
          </a:p>
          <a:p>
            <a:r>
              <a:rPr lang="en-IN" sz="2400" b="1" dirty="0"/>
              <a:t>Focus marketing campaigns on laptops (main revenue driver)</a:t>
            </a:r>
          </a:p>
          <a:p>
            <a:r>
              <a:rPr lang="en-IN" sz="2400" b="1" dirty="0"/>
              <a:t>Target younger customers with promotions, but validate with more data</a:t>
            </a:r>
          </a:p>
          <a:p>
            <a:r>
              <a:rPr lang="en-IN" sz="2400" b="1" dirty="0"/>
              <a:t>Explore loyalty programs for repeat buyers</a:t>
            </a:r>
          </a:p>
          <a:p>
            <a:r>
              <a:rPr lang="en-IN" sz="2400" b="1" dirty="0"/>
              <a:t>Build dashboards for continuous monitoring of sales patterns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758423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9AB25-AE49-673A-5DC1-EAD31294D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Key Learnings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5A56D7-D3A4-2FA1-8D55-CD4BFE0A54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3200" b="1" dirty="0"/>
              <a:t>Python (pandas for cleaning).</a:t>
            </a:r>
          </a:p>
          <a:p>
            <a:r>
              <a:rPr lang="en-IN" sz="3200" b="1" dirty="0"/>
              <a:t>SQL (business queries &amp; joins).</a:t>
            </a:r>
          </a:p>
          <a:p>
            <a:r>
              <a:rPr lang="en-IN" sz="3200" b="1" dirty="0"/>
              <a:t>Power BI (dashboards, KPIs).</a:t>
            </a:r>
          </a:p>
          <a:p>
            <a:r>
              <a:rPr lang="en-IN" sz="3200" b="1" dirty="0"/>
              <a:t>R (basic visualization).</a:t>
            </a:r>
          </a:p>
          <a:p>
            <a:r>
              <a:rPr lang="en-IN" sz="3200" b="1" dirty="0"/>
              <a:t>Storytelling &amp; hypothesis testing.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997703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01C65-FBD0-7558-9797-C24B8F96AF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Reflection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E6A676-B473-FDF3-8FD1-F249DDAD93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600200"/>
            <a:ext cx="11430000" cy="4870174"/>
          </a:xfrm>
        </p:spPr>
        <p:txBody>
          <a:bodyPr>
            <a:normAutofit fontScale="55000" lnSpcReduction="20000"/>
          </a:bodyPr>
          <a:lstStyle/>
          <a:p>
            <a:r>
              <a:rPr lang="en-IN" sz="2900" b="1" dirty="0"/>
              <a:t>Technical Growth</a:t>
            </a:r>
            <a:endParaRPr lang="en-IN" sz="2900" dirty="0"/>
          </a:p>
          <a:p>
            <a:pPr lvl="1"/>
            <a:r>
              <a:rPr lang="en-IN" dirty="0"/>
              <a:t>Learned how to clean and transform raw datasets into analysis-ready formats.</a:t>
            </a:r>
          </a:p>
          <a:p>
            <a:pPr lvl="1"/>
            <a:r>
              <a:rPr lang="en-IN" dirty="0"/>
              <a:t>Strengthened SQL query writing for business questions.</a:t>
            </a:r>
          </a:p>
          <a:p>
            <a:pPr lvl="1"/>
            <a:r>
              <a:rPr lang="en-IN" dirty="0"/>
              <a:t>Gained hands-on experience with Power BI dashboards and KPI cards.</a:t>
            </a:r>
          </a:p>
          <a:p>
            <a:pPr lvl="1"/>
            <a:r>
              <a:rPr lang="en-IN" dirty="0"/>
              <a:t>Practiced hypothesis testing and statistical validation.</a:t>
            </a:r>
          </a:p>
          <a:p>
            <a:r>
              <a:rPr lang="en-IN" sz="2900" b="1" dirty="0"/>
              <a:t>Analytical Mindset</a:t>
            </a:r>
            <a:endParaRPr lang="en-IN" sz="2900" dirty="0"/>
          </a:p>
          <a:p>
            <a:pPr lvl="1"/>
            <a:r>
              <a:rPr lang="en-IN" dirty="0"/>
              <a:t>Developed the ability to spot patterns and trends in messy data.</a:t>
            </a:r>
          </a:p>
          <a:p>
            <a:pPr lvl="1"/>
            <a:r>
              <a:rPr lang="en-IN" dirty="0"/>
              <a:t>Learned to question assumptions and validate insights with data.</a:t>
            </a:r>
          </a:p>
          <a:p>
            <a:pPr lvl="1"/>
            <a:r>
              <a:rPr lang="en-IN" dirty="0"/>
              <a:t>Understood the importance of sample size and data quality in analysis.</a:t>
            </a:r>
          </a:p>
          <a:p>
            <a:r>
              <a:rPr lang="en-IN" sz="3200" b="1" dirty="0"/>
              <a:t>Business Understanding</a:t>
            </a:r>
            <a:endParaRPr lang="en-IN" sz="3200" dirty="0"/>
          </a:p>
          <a:p>
            <a:pPr lvl="1"/>
            <a:r>
              <a:rPr lang="en-IN" dirty="0"/>
              <a:t>Connected technical outputs to business impact (e.g., laptops as revenue driver).</a:t>
            </a:r>
          </a:p>
          <a:p>
            <a:pPr lvl="1"/>
            <a:r>
              <a:rPr lang="en-IN" dirty="0"/>
              <a:t>Learned how to translate numbers into actionable recommendations.</a:t>
            </a:r>
          </a:p>
          <a:p>
            <a:pPr lvl="1"/>
            <a:r>
              <a:rPr lang="en-IN" dirty="0"/>
              <a:t>Experienced how dashboards and KPIs support decision-making.</a:t>
            </a:r>
          </a:p>
          <a:p>
            <a:r>
              <a:rPr lang="en-IN" sz="3200" b="1" dirty="0"/>
              <a:t>Professional Skills</a:t>
            </a:r>
            <a:endParaRPr lang="en-IN" sz="3200" dirty="0"/>
          </a:p>
          <a:p>
            <a:pPr lvl="1"/>
            <a:r>
              <a:rPr lang="en-IN" dirty="0"/>
              <a:t>Improved storytelling and presentation skills.</a:t>
            </a:r>
          </a:p>
          <a:p>
            <a:pPr lvl="1"/>
            <a:r>
              <a:rPr lang="en-IN" dirty="0"/>
              <a:t>Learned to document work clearly in GitHub for professional portfolios.</a:t>
            </a:r>
          </a:p>
          <a:p>
            <a:pPr lvl="1"/>
            <a:r>
              <a:rPr lang="en-IN" dirty="0"/>
              <a:t>Practiced communicating insights to non-technical stakeholders.</a:t>
            </a:r>
          </a:p>
          <a:p>
            <a:r>
              <a:rPr lang="en-IN" sz="3200" b="1" dirty="0"/>
              <a:t>Personal Growth</a:t>
            </a:r>
            <a:endParaRPr lang="en-IN" sz="3200" dirty="0"/>
          </a:p>
          <a:p>
            <a:pPr lvl="1"/>
            <a:r>
              <a:rPr lang="en-IN" dirty="0"/>
              <a:t>Built confidence in handling end-to-end projects independently.</a:t>
            </a:r>
          </a:p>
          <a:p>
            <a:pPr lvl="1"/>
            <a:r>
              <a:rPr lang="en-IN" dirty="0"/>
              <a:t>Experienced the discipline of working with timelines and deliverables.</a:t>
            </a:r>
          </a:p>
          <a:p>
            <a:pPr lvl="1"/>
            <a:r>
              <a:rPr lang="en-IN" dirty="0"/>
              <a:t>Strengthened problem-solving skills by handling data inconsistencies.</a:t>
            </a:r>
          </a:p>
          <a:p>
            <a:pPr lvl="1"/>
            <a:r>
              <a:rPr lang="en-IN" dirty="0"/>
              <a:t>Learned to reflect on mistakes (like small sample size limitations) and improve.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699862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338C7-68F8-58FC-4210-90771BA7C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Thank 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E05CE9-04E3-6494-C085-310AD513A8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2404250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1485A4"/>
      </a:dk2>
      <a:lt2>
        <a:srgbClr val="E3DED1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F49100"/>
      </a:hlink>
      <a:folHlink>
        <a:srgbClr val="739D9B"/>
      </a:folHlink>
    </a:clrScheme>
    <a:fontScheme name="Savon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2000"/>
                <a:satMod val="160000"/>
              </a:schemeClr>
            </a:gs>
            <a:gs pos="77000">
              <a:schemeClr val="phClr">
                <a:tint val="100000"/>
                <a:shade val="73000"/>
                <a:satMod val="155000"/>
              </a:schemeClr>
            </a:gs>
            <a:gs pos="100000">
              <a:schemeClr val="phClr">
                <a:tint val="100000"/>
                <a:shade val="67000"/>
                <a:satMod val="14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C20BADFE-D095-436F-9677-9264042809F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Savon</Template>
  <TotalTime>83</TotalTime>
  <Words>551</Words>
  <Application>Microsoft Office PowerPoint</Application>
  <PresentationFormat>Widescreen</PresentationFormat>
  <Paragraphs>72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Century Gothic</vt:lpstr>
      <vt:lpstr>Garamond</vt:lpstr>
      <vt:lpstr>Savon</vt:lpstr>
      <vt:lpstr>Data Analytics Internship Portfolio – ApexPlanet Software Pvt Ltd </vt:lpstr>
      <vt:lpstr>Data Storytelling &amp; Statistical Validation. </vt:lpstr>
      <vt:lpstr>Dataset Overview </vt:lpstr>
      <vt:lpstr>Key Insights</vt:lpstr>
      <vt:lpstr>Hypotheses Tested </vt:lpstr>
      <vt:lpstr>Business Impact</vt:lpstr>
      <vt:lpstr>Recommendations</vt:lpstr>
      <vt:lpstr>Key Learnings</vt:lpstr>
      <vt:lpstr>Reflection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Akshaya Itha</dc:creator>
  <cp:lastModifiedBy>Akshaya Itha</cp:lastModifiedBy>
  <cp:revision>2</cp:revision>
  <dcterms:created xsi:type="dcterms:W3CDTF">2026-07-01T16:05:38Z</dcterms:created>
  <dcterms:modified xsi:type="dcterms:W3CDTF">2026-07-02T16:56:05Z</dcterms:modified>
</cp:coreProperties>
</file>